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675"/>
                </a:solidFill>
                <a:latin typeface="DejaVu Sans"/>
              </a:defRPr>
            </a:pPr>
            <a:r>
              <a:t>01 • O EXERCÍCIO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D45"/>
                </a:solidFill>
                <a:latin typeface="DejaVu Sans"/>
              </a:defRPr>
            </a:pPr>
            <a:r>
              <a:t>E se apenas 60% continuassem elegíveis?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45936"/>
            <a:ext cx="1115568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Fonte: planilha de equiparação pela DIB e simulação em R • Valores reais: R$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1/4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42D45"/>
                </a:solidFill>
                <a:latin typeface="DejaVu Sans"/>
              </a:defRPr>
            </a:pPr>
            <a:r>
              <a:t>Simulação da aposentadoria rural: 65 anos para ambos os sexos, com transição uniforme de 10 anos.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5394960" cy="242316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54864" cy="2423160"/>
          </a:xfrm>
          <a:prstGeom prst="rect">
            <a:avLst/>
          </a:prstGeom>
          <a:solidFill>
            <a:srgbClr val="14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26575"/>
                </a:solidFill>
                <a:latin typeface="DejaVu Sans"/>
              </a:defRPr>
            </a:pPr>
            <a:r>
              <a:t>REFERÊNCIA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291839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42D45"/>
                </a:solidFill>
                <a:latin typeface="DejaVu Sans"/>
              </a:defRPr>
            </a:pPr>
            <a:r>
              <a:t>Regras atuais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069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42D45"/>
                </a:solidFill>
                <a:latin typeface="DejaVu Sans"/>
              </a:defRPr>
            </a:pPr>
            <a:r>
              <a:t>Homens: 60 anos • Mulheres: 55 anos</a:t>
            </a:r>
          </a:p>
          <a:p>
            <a:pPr>
              <a:spcAft>
                <a:spcPts val="600"/>
              </a:spcAft>
              <a:defRPr sz="1600" b="0">
                <a:solidFill>
                  <a:srgbClr val="142D45"/>
                </a:solidFill>
                <a:latin typeface="DejaVu Sans"/>
              </a:defRPr>
            </a:pPr>
            <a:r>
              <a:t>Sem restrição adicional de elegibilidade.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2651760"/>
            <a:ext cx="5541264" cy="242316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2651760"/>
            <a:ext cx="54864" cy="2423160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834640"/>
            <a:ext cx="517550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26575"/>
                </a:solidFill>
                <a:latin typeface="DejaVu Sans"/>
              </a:defRPr>
            </a:pPr>
            <a:r>
              <a:t>PROPOSTA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291839"/>
            <a:ext cx="517550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08675"/>
                </a:solidFill>
                <a:latin typeface="DejaVu Sans"/>
              </a:defRPr>
            </a:pPr>
            <a:r>
              <a:t>60% elegíveis • 65 anos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069080"/>
            <a:ext cx="512978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42D45"/>
                </a:solidFill>
                <a:latin typeface="DejaVu Sans"/>
              </a:defRPr>
            </a:pPr>
            <a:r>
              <a:t>Novas coortes desde 2027. Transição até 2036.</a:t>
            </a:r>
          </a:p>
          <a:p>
            <a:pPr>
              <a:spcAft>
                <a:spcPts val="600"/>
              </a:spcAft>
              <a:defRPr sz="1600" b="0">
                <a:solidFill>
                  <a:srgbClr val="142D45"/>
                </a:solidFill>
                <a:latin typeface="DejaVu Sans"/>
              </a:defRPr>
            </a:pPr>
            <a:r>
              <a:t>Os outros 40% ficam sem este benefício.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1324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42D45"/>
                </a:solidFill>
                <a:latin typeface="DejaVu Sans"/>
              </a:defRPr>
            </a:pPr>
            <a:r>
              <a:t>Pergunta: quanto os pagamentos das novas coortes diminuem frente à manutenção das regras atuais?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675"/>
                </a:solidFill>
                <a:latin typeface="DejaVu Sans"/>
              </a:defRPr>
            </a:pPr>
            <a:r>
              <a:t>02 • PREMISSAS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D45"/>
                </a:solidFill>
                <a:latin typeface="DejaVu Sans"/>
              </a:defRPr>
            </a:pPr>
            <a:r>
              <a:t>O percentual incide sobre o fluxo elegível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45936"/>
            <a:ext cx="1115568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Fonte: planilha de equiparação pela DIB e simulação em R • Valores reais: R$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2/4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09728" cy="731520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8308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42D45"/>
                </a:solidFill>
                <a:latin typeface="DejaVu Sans"/>
              </a:defRPr>
            </a:pPr>
            <a:r>
              <a:t>Fluxo de 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78308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2D45"/>
                </a:solidFill>
                <a:latin typeface="DejaVu Sans"/>
              </a:defRPr>
            </a:pPr>
            <a:r>
              <a:t>População × incidência média de concessões de 2020–2024. Apenas 60% desse fluxo permanece elegível na proposta.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70632"/>
            <a:ext cx="109728" cy="731520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770632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42D45"/>
                </a:solidFill>
                <a:latin typeface="DejaVu Sans"/>
              </a:defRPr>
            </a:pPr>
            <a:r>
              <a:t>Momento da concessão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70632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2D45"/>
                </a:solidFill>
                <a:latin typeface="DejaVu Sans"/>
              </a:defRPr>
            </a:pPr>
            <a:r>
              <a:t>Referência pela idade média efetiva de 2020–2025: atraso arredondado de 9 meses (H) e 16 meses (M).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58184"/>
            <a:ext cx="109728" cy="731520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758184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42D45"/>
                </a:solidFill>
                <a:latin typeface="DejaVu Sans"/>
              </a:defRPr>
            </a:pPr>
            <a:r>
              <a:t>Valor dos benefícios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758184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2D45"/>
                </a:solidFill>
                <a:latin typeface="DejaVu Sans"/>
              </a:defRPr>
            </a:pPr>
            <a:r>
              <a:t>Um salário mínimo, 13 pagamentos ao ano. Salário e INPC da planilha; valores reais com base em 2026.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45736"/>
            <a:ext cx="109728" cy="731520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745736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42D45"/>
                </a:solidFill>
                <a:latin typeface="DejaVu Sans"/>
              </a:defRPr>
            </a:pPr>
            <a:r>
              <a:t>Cobertura e limites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745736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42D45"/>
                </a:solidFill>
                <a:latin typeface="DejaVu Sans"/>
              </a:defRPr>
            </a:pPr>
            <a:r>
              <a:t>Coortes anteriores a 2027 preservadas. Sem mortalidade, respostas comportamentais ou migração para outros benefícios.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8704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C743B"/>
                </a:solidFill>
                <a:latin typeface="DejaVu Sans"/>
              </a:defRPr>
            </a:pPr>
            <a:r>
              <a:t>Os 40% excluídos não recebem este benefício posteriormente, por hipótese do exercício.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675"/>
                </a:solidFill>
                <a:latin typeface="DejaVu Sans"/>
              </a:defRPr>
            </a:pPr>
            <a:r>
              <a:t>03 • A TRANSIÇÃO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D45"/>
                </a:solidFill>
                <a:latin typeface="DejaVu Sans"/>
              </a:defRPr>
            </a:pPr>
            <a:r>
              <a:t>A idade final de 65 anos é atingida em 2036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45936"/>
            <a:ext cx="1115568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Fonte: planilha de equiparação pela DIB e simulação em R • Valores reais: R$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3/4</a:t>
            </a:r>
          </a:p>
        </p:txBody>
      </p:sp>
      <p:pic>
        <p:nvPicPr>
          <p:cNvPr id="8" name="Picture 7" descr="trans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92224"/>
            <a:ext cx="7406640" cy="3566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874519"/>
            <a:ext cx="3456432" cy="178308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874519"/>
            <a:ext cx="54864" cy="1783080"/>
          </a:xfrm>
          <a:prstGeom prst="rect">
            <a:avLst/>
          </a:prstGeom>
          <a:solidFill>
            <a:srgbClr val="14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2057400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26575"/>
                </a:solidFill>
                <a:latin typeface="DejaVu Sans"/>
              </a:defRPr>
            </a:pPr>
            <a:r>
              <a:t>HOMENS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514600"/>
            <a:ext cx="3090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42D45"/>
                </a:solidFill>
                <a:latin typeface="DejaVu Sans"/>
              </a:defRPr>
            </a:pPr>
            <a:r>
              <a:t>+6 meses/ano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3291839"/>
            <a:ext cx="304495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42D45"/>
                </a:solidFill>
                <a:latin typeface="DejaVu Sans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8229600" y="3822191"/>
            <a:ext cx="3456432" cy="1783080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822191"/>
            <a:ext cx="54864" cy="1783080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400507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26575"/>
                </a:solidFill>
                <a:latin typeface="DejaVu Sans"/>
              </a:defRPr>
            </a:pPr>
            <a:r>
              <a:t>MULHERES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4462272"/>
            <a:ext cx="309067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08675"/>
                </a:solidFill>
                <a:latin typeface="DejaVu Sans"/>
              </a:defRPr>
            </a:pPr>
            <a:r>
              <a:t>+12 meses/ano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5239512"/>
            <a:ext cx="304495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42D45"/>
                </a:solidFill>
                <a:latin typeface="DejaVu San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85800" y="5559552"/>
            <a:ext cx="722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42D45"/>
                </a:solidFill>
                <a:latin typeface="DejaVu Sans"/>
              </a:defRPr>
            </a:pPr>
            <a:r>
              <a:t>A elegibilidade é verificada no primeiro mês que cumpre a idade exigida no ano da concessão, atualizada a cada janeiro.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08675"/>
                </a:solidFill>
                <a:latin typeface="DejaVu Sans"/>
              </a:defRPr>
            </a:pPr>
            <a:r>
              <a:t>04 •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42D45"/>
                </a:solidFill>
                <a:latin typeface="DejaVu Sans"/>
              </a:defRPr>
            </a:pPr>
            <a:r>
              <a:t>Economia acumulada: R$ 4,702 trilhões até 2060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45936"/>
            <a:ext cx="11155680" cy="10972"/>
          </a:xfrm>
          <a:prstGeom prst="rect">
            <a:avLst/>
          </a:prstGeom>
          <a:solidFill>
            <a:srgbClr val="D9E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Fonte: planilha de equiparação pela DIB e simulação em R • Valores reais: R$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526575"/>
                </a:solidFill>
                <a:latin typeface="DejaVu Sans"/>
              </a:defRPr>
            </a:pPr>
            <a:r>
              <a:t>4/4</a:t>
            </a:r>
          </a:p>
        </p:txBody>
      </p:sp>
      <p:pic>
        <p:nvPicPr>
          <p:cNvPr id="8" name="Picture 7" descr="econ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68580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17830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26575"/>
                </a:solidFill>
                <a:latin typeface="DejaVu Sans"/>
              </a:defRPr>
            </a:pPr>
            <a:r>
              <a:t>DECOMPOSIÇÃO ATÉ 2060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240280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08675"/>
                </a:solidFill>
                <a:latin typeface="DejaVu Sans"/>
              </a:defRPr>
            </a:pPr>
            <a:r>
              <a:t>R$ 1,591 tri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85292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42D45"/>
                </a:solidFill>
                <a:latin typeface="DejaVu Sans"/>
              </a:defRPr>
            </a:pPr>
            <a:r>
              <a:t>Aumento de idade entre os 60% elegíveis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675887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DC743B"/>
                </a:solidFill>
                <a:latin typeface="DejaVu Sans"/>
              </a:defRPr>
            </a:pPr>
            <a:r>
              <a:t>R$ 3,111 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288536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42D45"/>
                </a:solidFill>
                <a:latin typeface="DejaVu Sans"/>
              </a:defRPr>
            </a:pPr>
            <a:r>
              <a:t>Restrição dos demais 40% frente à regra atual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321808"/>
            <a:ext cx="11183112" cy="658368"/>
          </a:xfrm>
          <a:prstGeom prst="rect">
            <a:avLst/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47725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42D45"/>
                </a:solidFill>
                <a:latin typeface="DejaVu Sans"/>
              </a:defRPr>
            </a:pPr>
            <a:r>
              <a:t>2030: R$ 32,0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547725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42D45"/>
                </a:solidFill>
                <a:latin typeface="DejaVu Sans"/>
              </a:defRPr>
            </a:pPr>
            <a:r>
              <a:t>2040: R$ 749,9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547725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42D45"/>
                </a:solidFill>
                <a:latin typeface="DejaVu Sans"/>
              </a:defRPr>
            </a:pPr>
            <a:r>
              <a:t>2050: R$ 2.322,4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1" y="547725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42D45"/>
                </a:solidFill>
                <a:latin typeface="DejaVu Sans"/>
              </a:defRPr>
            </a:pPr>
            <a:r>
              <a:t>2060: R$ 4.702,0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5332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26575"/>
                </a:solidFill>
                <a:latin typeface="DejaVu Sans"/>
              </a:defRPr>
            </a:pPr>
            <a:r>
              <a:t>Estimativa bruta das novas coortes, sem dupla contagem; não representa a despesa total do estoque de aposentadorias.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Aposentadoria rural — cenário de 60% elegíveis e idade de 65 anos</dc:title>
  <dc:subject>Exercício, premissas, transição e resultados até 2060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