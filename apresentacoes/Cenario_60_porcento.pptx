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8675"/>
                </a:solidFill>
                <a:latin typeface="DejaVu Sans"/>
              </a:defRPr>
            </a:pPr>
            <a:r>
              <a:t>01 • O EXERCÍCIO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42D45"/>
                </a:solidFill>
                <a:latin typeface="DejaVu Sans"/>
              </a:defRPr>
            </a:pPr>
            <a:r>
              <a:t>E se apenas 60% continuassem elegíveis?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45936"/>
            <a:ext cx="11155680" cy="10972"/>
          </a:xfrm>
          <a:prstGeom prst="rect">
            <a:avLst/>
          </a:prstGeom>
          <a:solidFill>
            <a:srgbClr val="D9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Fonte: planilha de equiparação pela DIB e simulação em R • Valores reais: R$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1/5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42D45"/>
                </a:solidFill>
                <a:latin typeface="DejaVu Sans"/>
              </a:defRPr>
            </a:pPr>
            <a:r>
              <a:t>Simulação da aposentadoria rural: 65 anos para ambos os sexos, com transição uniforme de 10 anos.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5394960" cy="242316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54864" cy="2423160"/>
          </a:xfrm>
          <a:prstGeom prst="rect">
            <a:avLst/>
          </a:prstGeom>
          <a:solidFill>
            <a:srgbClr val="14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526575"/>
                </a:solidFill>
                <a:latin typeface="DejaVu Sans"/>
              </a:defRPr>
            </a:pPr>
            <a:r>
              <a:t>REFERÊNCIA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291839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42D45"/>
                </a:solidFill>
                <a:latin typeface="DejaVu Sans"/>
              </a:defRPr>
            </a:pPr>
            <a:r>
              <a:t>Regras atuais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069080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Homens: 60 anos • Mulheres: 55 anos</a:t>
            </a:r>
          </a:p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Sem restrição adicional de elegibilidade.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2651760"/>
            <a:ext cx="5541264" cy="242316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2651760"/>
            <a:ext cx="54864" cy="242316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834640"/>
            <a:ext cx="51755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526575"/>
                </a:solidFill>
                <a:latin typeface="DejaVu Sans"/>
              </a:defRPr>
            </a:pPr>
            <a:r>
              <a:t>PROPOSTA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291839"/>
            <a:ext cx="51755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08675"/>
                </a:solidFill>
                <a:latin typeface="DejaVu Sans"/>
              </a:defRPr>
            </a:pPr>
            <a:r>
              <a:t>60% elegíveis • 65 anos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4069080"/>
            <a:ext cx="512978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Novas coortes desde 2027. Transição até 2036.</a:t>
            </a:r>
          </a:p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Os outros 40% ficam sem este benefício.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1324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42D45"/>
                </a:solidFill>
                <a:latin typeface="DejaVu Sans"/>
              </a:defRPr>
            </a:pPr>
            <a:r>
              <a:t>Pergunta: quanto os pagamentos das novas coortes diminuem frente à manutenção das regras atuais?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8675"/>
                </a:solidFill>
                <a:latin typeface="DejaVu Sans"/>
              </a:defRPr>
            </a:pPr>
            <a:r>
              <a:t>02 • PREMISSAS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42D45"/>
                </a:solidFill>
                <a:latin typeface="DejaVu Sans"/>
              </a:defRPr>
            </a:pPr>
            <a:r>
              <a:t>O percentual incide sobre o fluxo elegível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45936"/>
            <a:ext cx="11155680" cy="10972"/>
          </a:xfrm>
          <a:prstGeom prst="rect">
            <a:avLst/>
          </a:prstGeom>
          <a:solidFill>
            <a:srgbClr val="D9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Fonte: planilha de equiparação pela DIB e simulação em R • Valores reais: R$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2/5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09728" cy="73152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8308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42D45"/>
                </a:solidFill>
                <a:latin typeface="DejaVu Sans"/>
              </a:defRPr>
            </a:pPr>
            <a:r>
              <a:t>Fluxo de entrada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78308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42D45"/>
                </a:solidFill>
                <a:latin typeface="DejaVu Sans"/>
              </a:defRPr>
            </a:pPr>
            <a:r>
              <a:t>População × incidência média de concessões de 2020–2024. Apenas 60% desse fluxo permanece elegível na proposta.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0632"/>
            <a:ext cx="109728" cy="73152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770632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42D45"/>
                </a:solidFill>
                <a:latin typeface="DejaVu Sans"/>
              </a:defRPr>
            </a:pPr>
            <a:r>
              <a:t>Momento da concessão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70632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42D45"/>
                </a:solidFill>
                <a:latin typeface="DejaVu Sans"/>
              </a:defRPr>
            </a:pPr>
            <a:r>
              <a:t>Referência pela idade média efetiva de 2020–2025: atraso arredondado de 9 meses (H) e 16 meses (M).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58184"/>
            <a:ext cx="109728" cy="73152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758184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42D45"/>
                </a:solidFill>
                <a:latin typeface="DejaVu Sans"/>
              </a:defRPr>
            </a:pPr>
            <a:r>
              <a:t>Valor dos benefícios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58184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42D45"/>
                </a:solidFill>
                <a:latin typeface="DejaVu Sans"/>
              </a:defRPr>
            </a:pPr>
            <a:r>
              <a:t>Um salário mínimo, 13 pagamentos ao ano. Salário e INPC da planilha; valores reais com base em 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45736"/>
            <a:ext cx="109728" cy="73152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745736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42D45"/>
                </a:solidFill>
                <a:latin typeface="DejaVu Sans"/>
              </a:defRPr>
            </a:pPr>
            <a:r>
              <a:t>Cobertura e limites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745736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42D45"/>
                </a:solidFill>
                <a:latin typeface="DejaVu Sans"/>
              </a:defRPr>
            </a:pPr>
            <a:r>
              <a:t>Coortes anteriores a 2027 preservadas. Sem mortalidade, respostas comportamentais ou migração para outros benefícios.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87044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C743B"/>
                </a:solidFill>
                <a:latin typeface="DejaVu Sans"/>
              </a:defRPr>
            </a:pPr>
            <a:r>
              <a:t>Os 40% excluídos não recebem este benefício posteriormente, por hipótese do exercício.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8675"/>
                </a:solidFill>
                <a:latin typeface="DejaVu Sans"/>
              </a:defRPr>
            </a:pPr>
            <a:r>
              <a:t>03 • A TRANSIÇÃO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42D45"/>
                </a:solidFill>
                <a:latin typeface="DejaVu Sans"/>
              </a:defRPr>
            </a:pPr>
            <a:r>
              <a:t>A idade final de 65 anos é atingida em 2036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45936"/>
            <a:ext cx="11155680" cy="10972"/>
          </a:xfrm>
          <a:prstGeom prst="rect">
            <a:avLst/>
          </a:prstGeom>
          <a:solidFill>
            <a:srgbClr val="D9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Fonte: planilha de equiparação pela DIB e simulação em R • Valores reais: R$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3/5</a:t>
            </a:r>
          </a:p>
        </p:txBody>
      </p:sp>
      <p:pic>
        <p:nvPicPr>
          <p:cNvPr id="8" name="Picture 7" descr="tran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2224"/>
            <a:ext cx="7406640" cy="3566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874519"/>
            <a:ext cx="3456432" cy="178308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874519"/>
            <a:ext cx="54864" cy="1783080"/>
          </a:xfrm>
          <a:prstGeom prst="rect">
            <a:avLst/>
          </a:prstGeom>
          <a:solidFill>
            <a:srgbClr val="14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205740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526575"/>
                </a:solidFill>
                <a:latin typeface="DejaVu Sans"/>
              </a:defRPr>
            </a:pPr>
            <a:r>
              <a:t>HOMENS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514600"/>
            <a:ext cx="309067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42D45"/>
                </a:solidFill>
                <a:latin typeface="DejaVu Sans"/>
              </a:defRPr>
            </a:pPr>
            <a:r>
              <a:t>+6 meses/ano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291839"/>
            <a:ext cx="30449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8229600" y="3822191"/>
            <a:ext cx="3456432" cy="178308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822191"/>
            <a:ext cx="54864" cy="1783080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00507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526575"/>
                </a:solidFill>
                <a:latin typeface="DejaVu Sans"/>
              </a:defRPr>
            </a:pPr>
            <a:r>
              <a:t>MULHERES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462272"/>
            <a:ext cx="309067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08675"/>
                </a:solidFill>
                <a:latin typeface="DejaVu Sans"/>
              </a:defRPr>
            </a:pPr>
            <a:r>
              <a:t>+12 meses/ano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5239512"/>
            <a:ext cx="30449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85800" y="5559552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A elegibilidade é verificada no primeiro mês que cumpre a idade exigida no ano da concessão, atualizada a cada janeiro.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8675"/>
                </a:solidFill>
                <a:latin typeface="DejaVu Sans"/>
              </a:defRPr>
            </a:pPr>
            <a:r>
              <a:t>04 •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42D45"/>
                </a:solidFill>
                <a:latin typeface="DejaVu Sans"/>
              </a:defRPr>
            </a:pPr>
            <a:r>
              <a:t>Economia acumulada: R$ 4,702 trilhões até 2060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45936"/>
            <a:ext cx="11155680" cy="10972"/>
          </a:xfrm>
          <a:prstGeom prst="rect">
            <a:avLst/>
          </a:prstGeom>
          <a:solidFill>
            <a:srgbClr val="D9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Fonte: planilha de equiparação pela DIB e simulação em R • Valores reais: R$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4/5</a:t>
            </a:r>
          </a:p>
        </p:txBody>
      </p:sp>
      <p:pic>
        <p:nvPicPr>
          <p:cNvPr id="8" name="Picture 7" descr="econ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8580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526575"/>
                </a:solidFill>
                <a:latin typeface="DejaVu Sans"/>
              </a:defRPr>
            </a:pPr>
            <a:r>
              <a:t>DECOMPOSIÇÃO ATÉ 2060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24028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008675"/>
                </a:solidFill>
                <a:latin typeface="DejaVu Sans"/>
              </a:defRPr>
            </a:pPr>
            <a:r>
              <a:t>R$ 1,591 tri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85292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Aumento de idade entre os 60%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675887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DC743B"/>
                </a:solidFill>
                <a:latin typeface="DejaVu Sans"/>
              </a:defRPr>
            </a:pPr>
            <a:r>
              <a:t>R$ 3,111 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28853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42D45"/>
                </a:solidFill>
                <a:latin typeface="DejaVu Sans"/>
              </a:defRPr>
            </a:pPr>
            <a:r>
              <a:t>Restrição dos demais 40% frente à regra atual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321808"/>
            <a:ext cx="11183112" cy="658368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477256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42D45"/>
                </a:solidFill>
                <a:latin typeface="DejaVu Sans"/>
              </a:defRPr>
            </a:pPr>
            <a:r>
              <a:t>2030: R$ 32,0 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5477256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42D45"/>
                </a:solidFill>
                <a:latin typeface="DejaVu Sans"/>
              </a:defRPr>
            </a:pPr>
            <a:r>
              <a:t>2040: R$ 749,9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5477256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42D45"/>
                </a:solidFill>
                <a:latin typeface="DejaVu Sans"/>
              </a:defRPr>
            </a:pPr>
            <a:r>
              <a:t>2050: R$ 2.322,4 bi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91" y="5477256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42D45"/>
                </a:solidFill>
                <a:latin typeface="DejaVu Sans"/>
              </a:defRPr>
            </a:pPr>
            <a:r>
              <a:t>2060: R$ 4.702,0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6575"/>
                </a:solidFill>
                <a:latin typeface="DejaVu Sans"/>
              </a:defRPr>
            </a:pPr>
            <a:r>
              <a:t>Estimativa bruta das novas coortes, sem dupla contagem; não representa a despesa total do estoque de aposentadorias.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8675"/>
                </a:solidFill>
                <a:latin typeface="DejaVu Sans"/>
              </a:defRPr>
            </a:pPr>
            <a:r>
              <a:t>05 • RESULTADOS EM TABELA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42D45"/>
                </a:solidFill>
                <a:latin typeface="DejaVu Sans"/>
              </a:defRPr>
            </a:pPr>
            <a:r>
              <a:t>Economia acumulada frente às regras atuais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45936"/>
            <a:ext cx="11155680" cy="10972"/>
          </a:xfrm>
          <a:prstGeom prst="rect">
            <a:avLst/>
          </a:prstGeom>
          <a:solidFill>
            <a:srgbClr val="D9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Fonte: planilha de equiparação pela DIB e simulação em R • Valores reais: R$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5"/>
                </a:solidFill>
                <a:latin typeface="DejaVu Sans"/>
              </a:defRPr>
            </a:pPr>
            <a:r>
              <a:t>5/5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7335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526575"/>
                </a:solidFill>
                <a:latin typeface="DejaVu Sans"/>
              </a:defRPr>
            </a:pPr>
            <a:r>
              <a:t>Valores em R$ bilhões de 2026 • acumulados desde 2027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2331720"/>
          <a:ext cx="10424160" cy="299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29000"/>
                <a:gridCol w="342900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>
                        <a:defRPr sz="17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Até o ano</a:t>
                      </a:r>
                    </a:p>
                  </a:txBody>
                  <a:tcPr marL="146304" marR="146304" anchor="ctr">
                    <a:solidFill>
                      <a:srgbClr val="142D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7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Aumento de idade</a:t>
                      </a:r>
                    </a:p>
                  </a:txBody>
                  <a:tcPr marL="146304" marR="146304" anchor="ctr">
                    <a:solidFill>
                      <a:srgbClr val="142D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7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Exclusão dos 40%</a:t>
                      </a:r>
                    </a:p>
                  </a:txBody>
                  <a:tcPr marL="146304" marR="146304" anchor="ctr">
                    <a:solidFill>
                      <a:srgbClr val="142D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7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Total</a:t>
                      </a:r>
                    </a:p>
                  </a:txBody>
                  <a:tcPr marL="146304" marR="146304" anchor="ctr">
                    <a:solidFill>
                      <a:srgbClr val="142D45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2030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15,850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16,191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32,041</a:t>
                      </a:r>
                    </a:p>
                  </a:txBody>
                  <a:tcPr marL="146304" marR="146304" anchor="ctr">
                    <a:solidFill>
                      <a:srgbClr val="008675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2040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377,579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372,346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749,925</a:t>
                      </a:r>
                    </a:p>
                  </a:txBody>
                  <a:tcPr marL="146304" marR="146304" anchor="ctr">
                    <a:solidFill>
                      <a:srgbClr val="008675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2050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959,588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1.362,824</a:t>
                      </a:r>
                    </a:p>
                  </a:txBody>
                  <a:tcPr marL="146304" marR="146304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2.322,413</a:t>
                      </a:r>
                    </a:p>
                  </a:txBody>
                  <a:tcPr marL="146304" marR="146304" anchor="ctr">
                    <a:solidFill>
                      <a:srgbClr val="008675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2060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1.591,287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0">
                          <a:solidFill>
                            <a:srgbClr val="142D45"/>
                          </a:solidFill>
                          <a:latin typeface="DejaVu Sans"/>
                        </a:defRPr>
                      </a:pPr>
                      <a:r>
                        <a:t>3.110,676</a:t>
                      </a:r>
                    </a:p>
                  </a:txBody>
                  <a:tcPr marL="146304" marR="1463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210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4.701,963</a:t>
                      </a:r>
                    </a:p>
                  </a:txBody>
                  <a:tcPr marL="146304" marR="146304" anchor="ctr">
                    <a:solidFill>
                      <a:srgbClr val="00867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48640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42D45"/>
                </a:solidFill>
                <a:latin typeface="DejaVu Sans"/>
              </a:defRPr>
            </a:pPr>
            <a:r>
              <a:t>Total = adiamento entre os 60% elegíveis + pagamentos evitados pela exclusão dos outros 40%.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6575"/>
                </a:solidFill>
                <a:latin typeface="DejaVu Sans"/>
              </a:defRPr>
            </a:pPr>
            <a:r>
              <a:t>Os componentes e o total são arredondados separadamente para três casas decimais.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Aposentadoria rural — cenário de 60% elegíveis e idade de 65 anos</dc:title>
  <dc:subject>Exercício, premissas, transição e resultados até 2060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