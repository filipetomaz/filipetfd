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675"/>
                </a:solidFill>
                <a:latin typeface="DejaVu Sans"/>
              </a:defRPr>
            </a:pPr>
            <a:r>
              <a:t>01 • DESENHO DO EXERCÍCIO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D45"/>
                </a:solidFill>
                <a:latin typeface="DejaVu Sans"/>
              </a:defRPr>
            </a:pPr>
            <a:r>
              <a:t>Três cenários, uma mesma referência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45936"/>
            <a:ext cx="11155680" cy="10972"/>
          </a:xfrm>
          <a:prstGeom prst="rect">
            <a:avLst/>
          </a:prstGeom>
          <a:solidFill>
            <a:srgbClr val="D9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Fonte: comparacao_tres_cenarios.Rmd • Valores reais: R$ de 2026 • Referência: regras atuais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1/4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42D45"/>
                </a:solidFill>
                <a:latin typeface="DejaVu Sans"/>
              </a:defRPr>
            </a:pPr>
            <a:r>
              <a:t>Referência: regras atuais — homens aos 60 e mulheres aos 55 anos, sem restrição adicional de elegibilidade.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97480"/>
            <a:ext cx="11000232" cy="59436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43784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D45"/>
                </a:solidFill>
                <a:latin typeface="DejaVu Sans"/>
              </a:defRPr>
            </a:pPr>
            <a:r>
              <a:t>1  |  Cenário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843784"/>
            <a:ext cx="6492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42D45"/>
                </a:solidFill>
                <a:latin typeface="DejaVu Sans"/>
              </a:defRPr>
            </a:pPr>
            <a:r>
              <a:t>Homens 65 • Mulheres 62 • 100% elegíveis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447288"/>
            <a:ext cx="11000232" cy="59436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93592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D45"/>
                </a:solidFill>
                <a:latin typeface="DejaVu Sans"/>
              </a:defRPr>
            </a:pPr>
            <a:r>
              <a:t>2  |  Idades equiparadas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593592"/>
            <a:ext cx="6492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42D45"/>
                </a:solidFill>
                <a:latin typeface="DejaVu Sans"/>
              </a:defRPr>
            </a:pPr>
            <a:r>
              <a:t>Homens 65 • Mulheres 65 • 100% elegíveis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197096"/>
            <a:ext cx="11000232" cy="59436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D45"/>
                </a:solidFill>
                <a:latin typeface="DejaVu Sans"/>
              </a:defRPr>
            </a:pPr>
            <a:r>
              <a:t>3  |  Elegibilidade restrita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343400"/>
            <a:ext cx="6492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42D45"/>
                </a:solidFill>
                <a:latin typeface="DejaVu Sans"/>
              </a:defRPr>
            </a:pPr>
            <a:r>
              <a:t>Homens 65 • Mulheres 65 • 60% elegíveis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7550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008675"/>
                </a:solidFill>
                <a:latin typeface="DejaVu Sans"/>
              </a:defRPr>
            </a:pPr>
            <a:r>
              <a:t>Transição uniforme de 10 anos: 2027–2036.</a:t>
            </a:r>
          </a:p>
          <a:p>
            <a:pPr>
              <a:spcAft>
                <a:spcPts val="600"/>
              </a:spcAft>
              <a:defRPr sz="1900" b="1">
                <a:solidFill>
                  <a:srgbClr val="008675"/>
                </a:solidFill>
                <a:latin typeface="DejaVu Sans"/>
              </a:defRPr>
            </a:pPr>
            <a:r>
              <a:t>Resultados acumulados desde 2027, em R$ bilhões de 2026.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017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26575"/>
                </a:solidFill>
                <a:latin typeface="DejaVu Sans"/>
              </a:defRPr>
            </a:pPr>
            <a:r>
              <a:t>Referência de concessão pela idade média efetiva; preservação das coortes anteriores a 2027.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675"/>
                </a:solidFill>
                <a:latin typeface="DejaVu Sans"/>
              </a:defRPr>
            </a:pPr>
            <a:r>
              <a:t>02 •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D45"/>
                </a:solidFill>
                <a:latin typeface="DejaVu Sans"/>
              </a:defRPr>
            </a:pPr>
            <a:r>
              <a:t>Cenário base: homens 65, mulheres 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45936"/>
            <a:ext cx="11155680" cy="10972"/>
          </a:xfrm>
          <a:prstGeom prst="rect">
            <a:avLst/>
          </a:prstGeom>
          <a:solidFill>
            <a:srgbClr val="D9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Fonte: comparacao_tres_cenarios.Rmd • Valores reais: R$ de 2026 • Referência: regras atuais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2/4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526575"/>
                </a:solidFill>
                <a:latin typeface="DejaVu Sans"/>
              </a:defRPr>
            </a:pPr>
            <a:r>
              <a:t>100% elegíveis • transição de 10 anos • economia somente pelo aumento de idade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88720" y="2240280"/>
          <a:ext cx="97840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223760"/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Até o ano</a:t>
                      </a:r>
                    </a:p>
                  </a:txBody>
                  <a:tcPr marL="164592" marR="16459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Economia acumulada — R$ bi de 2026</a:t>
                      </a:r>
                    </a:p>
                  </a:txBody>
                  <a:tcPr marL="164592" marR="164592" anchor="ctr">
                    <a:solidFill>
                      <a:srgbClr val="142D4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24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2030</a:t>
                      </a:r>
                    </a:p>
                  </a:txBody>
                  <a:tcPr marL="164592" marR="16459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4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17,664</a:t>
                      </a:r>
                    </a:p>
                  </a:txBody>
                  <a:tcPr marL="164592" marR="164592" anchor="ctr">
                    <a:solidFill>
                      <a:srgbClr val="00867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24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2040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4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482,448</a:t>
                      </a:r>
                    </a:p>
                  </a:txBody>
                  <a:tcPr marL="164592" marR="164592" anchor="ctr">
                    <a:solidFill>
                      <a:srgbClr val="00867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24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2050</a:t>
                      </a:r>
                    </a:p>
                  </a:txBody>
                  <a:tcPr marL="164592" marR="16459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4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1.222,253</a:t>
                      </a:r>
                    </a:p>
                  </a:txBody>
                  <a:tcPr marL="164592" marR="164592" anchor="ctr">
                    <a:solidFill>
                      <a:srgbClr val="00867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24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2060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4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2.026,357</a:t>
                      </a:r>
                    </a:p>
                  </a:txBody>
                  <a:tcPr marL="164592" marR="164592" anchor="ctr">
                    <a:solidFill>
                      <a:srgbClr val="00867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34440" y="5513832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42D45"/>
                </a:solidFill>
                <a:latin typeface="DejaVu Sans"/>
              </a:defRPr>
            </a:pPr>
            <a:r>
              <a:t>Sem restrição adicional de elegibilidade. Valores frente à manutenção das regras atuais.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675"/>
                </a:solidFill>
                <a:latin typeface="DejaVu Sans"/>
              </a:defRPr>
            </a:pPr>
            <a:r>
              <a:t>03 •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D45"/>
                </a:solidFill>
                <a:latin typeface="DejaVu Sans"/>
              </a:defRPr>
            </a:pPr>
            <a:r>
              <a:t>Idades equiparadas: 65 anos para ambos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45936"/>
            <a:ext cx="11155680" cy="10972"/>
          </a:xfrm>
          <a:prstGeom prst="rect">
            <a:avLst/>
          </a:prstGeom>
          <a:solidFill>
            <a:srgbClr val="D9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Fonte: comparacao_tres_cenarios.Rmd • Valores reais: R$ de 2026 • Referência: regras atuais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3/4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526575"/>
                </a:solidFill>
                <a:latin typeface="DejaVu Sans"/>
              </a:defRPr>
            </a:pPr>
            <a:r>
              <a:t>100% elegíveis • transição de 10 anos • mesma referência do cenário base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88720" y="2240280"/>
          <a:ext cx="97840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223760"/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Até o ano</a:t>
                      </a:r>
                    </a:p>
                  </a:txBody>
                  <a:tcPr marL="164592" marR="16459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Economia acumulada — R$ bi de 2026</a:t>
                      </a:r>
                    </a:p>
                  </a:txBody>
                  <a:tcPr marL="164592" marR="164592" anchor="ctr">
                    <a:solidFill>
                      <a:srgbClr val="142D4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24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2030</a:t>
                      </a:r>
                    </a:p>
                  </a:txBody>
                  <a:tcPr marL="164592" marR="16459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4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26,417</a:t>
                      </a:r>
                    </a:p>
                  </a:txBody>
                  <a:tcPr marL="164592" marR="164592" anchor="ctr">
                    <a:solidFill>
                      <a:srgbClr val="00867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24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2040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4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629,298</a:t>
                      </a:r>
                    </a:p>
                  </a:txBody>
                  <a:tcPr marL="164592" marR="164592" anchor="ctr">
                    <a:solidFill>
                      <a:srgbClr val="00867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24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2050</a:t>
                      </a:r>
                    </a:p>
                  </a:txBody>
                  <a:tcPr marL="164592" marR="16459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4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1.599,314</a:t>
                      </a:r>
                    </a:p>
                  </a:txBody>
                  <a:tcPr marL="164592" marR="164592" anchor="ctr">
                    <a:solidFill>
                      <a:srgbClr val="00867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24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2060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4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2.652,145</a:t>
                      </a:r>
                    </a:p>
                  </a:txBody>
                  <a:tcPr marL="164592" marR="164592" anchor="ctr">
                    <a:solidFill>
                      <a:srgbClr val="00867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34440" y="5513832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42D45"/>
                </a:solidFill>
                <a:latin typeface="DejaVu Sans"/>
              </a:defRPr>
            </a:pPr>
            <a:r>
              <a:t>Sem restrição adicional de elegibilidade. Valores frente à manutenção das regras atuais.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675"/>
                </a:solidFill>
                <a:latin typeface="DejaVu Sans"/>
              </a:defRPr>
            </a:pPr>
            <a:r>
              <a:t>04 •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D45"/>
                </a:solidFill>
                <a:latin typeface="DejaVu Sans"/>
              </a:defRPr>
            </a:pPr>
            <a:r>
              <a:t>65 anos para ambos, com 60% elegíveis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45936"/>
            <a:ext cx="11155680" cy="10972"/>
          </a:xfrm>
          <a:prstGeom prst="rect">
            <a:avLst/>
          </a:prstGeom>
          <a:solidFill>
            <a:srgbClr val="D9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Fonte: comparacao_tres_cenarios.Rmd • Valores reais: R$ de 2026 • Referência: regras atuais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4/4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526575"/>
                </a:solidFill>
                <a:latin typeface="DejaVu Sans"/>
              </a:defRPr>
            </a:pPr>
            <a:r>
              <a:t>Transição de 10 anos • economia acumulada em R$ bilhões de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2240280"/>
          <a:ext cx="1042416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429000"/>
                <a:gridCol w="3429000"/>
                <a:gridCol w="2103120"/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Até o ano</a:t>
                      </a:r>
                    </a:p>
                  </a:txBody>
                  <a:tcPr marL="164592" marR="16459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Aumento de idade</a:t>
                      </a:r>
                    </a:p>
                  </a:txBody>
                  <a:tcPr marL="164592" marR="16459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Exclusão dos 40%</a:t>
                      </a:r>
                    </a:p>
                  </a:txBody>
                  <a:tcPr marL="164592" marR="164592" anchor="ctr">
                    <a:solidFill>
                      <a:srgbClr val="142D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7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Total</a:t>
                      </a:r>
                    </a:p>
                  </a:txBody>
                  <a:tcPr marL="164592" marR="164592" anchor="ctr">
                    <a:solidFill>
                      <a:srgbClr val="142D4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2030</a:t>
                      </a:r>
                    </a:p>
                  </a:txBody>
                  <a:tcPr marL="164592" marR="16459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1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15,850</a:t>
                      </a:r>
                    </a:p>
                  </a:txBody>
                  <a:tcPr marL="164592" marR="16459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1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16,191</a:t>
                      </a:r>
                    </a:p>
                  </a:txBody>
                  <a:tcPr marL="164592" marR="16459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1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32,041</a:t>
                      </a:r>
                    </a:p>
                  </a:txBody>
                  <a:tcPr marL="164592" marR="164592" anchor="ctr">
                    <a:solidFill>
                      <a:srgbClr val="00867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2040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1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377,579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1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372,346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1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749,925</a:t>
                      </a:r>
                    </a:p>
                  </a:txBody>
                  <a:tcPr marL="164592" marR="164592" anchor="ctr">
                    <a:solidFill>
                      <a:srgbClr val="00867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2050</a:t>
                      </a:r>
                    </a:p>
                  </a:txBody>
                  <a:tcPr marL="164592" marR="16459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1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959,588</a:t>
                      </a:r>
                    </a:p>
                  </a:txBody>
                  <a:tcPr marL="164592" marR="16459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1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1.362,824</a:t>
                      </a:r>
                    </a:p>
                  </a:txBody>
                  <a:tcPr marL="164592" marR="16459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1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2.322,413</a:t>
                      </a:r>
                    </a:p>
                  </a:txBody>
                  <a:tcPr marL="164592" marR="164592" anchor="ctr">
                    <a:solidFill>
                      <a:srgbClr val="00867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2060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1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1.591,287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100" b="0">
                          <a:solidFill>
                            <a:srgbClr val="142D45"/>
                          </a:solidFill>
                          <a:latin typeface="DejaVu Sans"/>
                        </a:defRPr>
                      </a:pPr>
                      <a:r>
                        <a:t>3.110,676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210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4.701,963</a:t>
                      </a:r>
                    </a:p>
                  </a:txBody>
                  <a:tcPr marL="164592" marR="164592" anchor="ctr">
                    <a:solidFill>
                      <a:srgbClr val="00867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449824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42D45"/>
                </a:solidFill>
                <a:latin typeface="DejaVu Sans"/>
              </a:defRPr>
            </a:pPr>
            <a:r>
              <a:t>Total = adiamento entre os 60% elegíveis + pagamentos evitados pela exclusão dos demais 40%.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99048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26575"/>
                </a:solidFill>
                <a:latin typeface="DejaVu Sans"/>
              </a:defRPr>
            </a:pPr>
            <a:r>
              <a:t>Por hipótese, os excluídos não recebem este benefício posteriormente. Componentes arredondados separadamente.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Aposentadoria rural — três cenários de transição</dc:title>
  <dc:subject>Tabelas de economia acumulada até 2060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