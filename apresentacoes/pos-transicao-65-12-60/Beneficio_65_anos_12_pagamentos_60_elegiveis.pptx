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7D8C8"/>
                </a:solidFill>
                <a:latin typeface="DejaVu Sans"/>
              </a:defRPr>
            </a:pPr>
            <a:r>
              <a:t>01 · RESULTADO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65 anos para homens e mulheres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C3D4E0"/>
                </a:solidFill>
                <a:latin typeface="DejaVu Sans"/>
              </a:defRPr>
            </a:pPr>
            <a:r>
              <a:t>Transição escalonada de 10 anos · 12 pagamentos anuais · 60% elegíveis após a transição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496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C3D4E0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3D4E0"/>
                </a:solidFill>
                <a:latin typeface="DejaVu Sans"/>
              </a:defRPr>
            </a:pPr>
            <a:r>
              <a:t>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31720"/>
            <a:ext cx="64008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700" b="1">
                <a:solidFill>
                  <a:srgbClr val="FFFFFF"/>
                </a:solidFill>
                <a:latin typeface="DejaVu Sans"/>
              </a:defRPr>
            </a:pPr>
            <a:r>
              <a:t>R$ 4,645</a:t>
            </a:r>
          </a:p>
          <a:p>
            <a:pPr>
              <a:spcAft>
                <a:spcPts val="500"/>
              </a:spcAft>
              <a:defRPr sz="3700" b="1">
                <a:solidFill>
                  <a:srgbClr val="FFFFFF"/>
                </a:solidFill>
                <a:latin typeface="DejaVu Sans"/>
              </a:defRPr>
            </a:pPr>
            <a:r>
              <a:t>trilhões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C3D4E0"/>
                </a:solidFill>
                <a:latin typeface="DejaVu Sans"/>
              </a:defRPr>
            </a:pPr>
            <a:r>
              <a:t>Economia acumulada entre 2027 e 2060,</a:t>
            </a:r>
          </a:p>
          <a:p>
            <a:pPr>
              <a:spcAft>
                <a:spcPts val="500"/>
              </a:spcAft>
              <a:defRPr sz="1900" b="0">
                <a:solidFill>
                  <a:srgbClr val="C3D4E0"/>
                </a:solidFill>
                <a:latin typeface="DejaVu Sans"/>
              </a:defRPr>
            </a:pPr>
            <a:r>
              <a:t>em reais de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40280"/>
            <a:ext cx="4251960" cy="3337560"/>
          </a:xfrm>
          <a:prstGeom prst="rect">
            <a:avLst/>
          </a:prstGeom>
          <a:solidFill>
            <a:srgbClr val="203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5328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87D8C8"/>
                </a:solidFill>
                <a:latin typeface="DejaVu Sans"/>
              </a:defRPr>
            </a:pPr>
            <a:r>
              <a:t>COMO O CENÁRIO FUNCIONA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1089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2027–2036</a:t>
            </a:r>
          </a:p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Elevação gradual até 65 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3891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Desde 2037</a:t>
            </a:r>
          </a:p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60% dos novos ingressantes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05856"/>
            <a:ext cx="10789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C3D4E0"/>
                </a:solidFill>
                <a:latin typeface="DejaVu Sans"/>
              </a:defRPr>
            </a:pPr>
            <a:r>
              <a:t>Comparação com H60/M55, 13 pagamentos e sem filtro adicional. Coortes anteriores a 2027 preservadas.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02 · REGRAS DA TRANSIÇÃO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Dez degraus anuais até chegar aos 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A exigência é atualizada em janeiro: +6 meses/ano para homens e +12 meses/ano para mulheres.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2/8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121408"/>
          <a:ext cx="658368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38328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Ano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Homens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Mulheres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2027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60 anos e 6 meses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56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61 anos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57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2029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61 anos e 6 meses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58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62 anos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59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62 anos e 6 meses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60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63 anos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61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2033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63 anos e 6 meses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62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64 anos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63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64 anos e 6 meses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64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65 anos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65 anos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543800" y="2121408"/>
            <a:ext cx="4023360" cy="146304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331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Durante a transição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1635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575"/>
                </a:solidFill>
                <a:latin typeface="DejaVu Sans"/>
              </a:defRPr>
            </a:pPr>
            <a:r>
              <a:t>100% elegíveis pela regra etária.</a:t>
            </a:r>
          </a:p>
          <a:p>
            <a:pPr>
              <a:spcAft>
                <a:spcPts val="500"/>
              </a:spcAft>
              <a:defRPr sz="1500" b="0">
                <a:solidFill>
                  <a:srgbClr val="526575"/>
                </a:solidFill>
                <a:latin typeface="DejaVu Sans"/>
              </a:defRPr>
            </a:pPr>
            <a:r>
              <a:t>12 pagamentos desde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840480"/>
            <a:ext cx="4023360" cy="170078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050791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A partir de 2037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553712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Idade: 65 anos para ambos.</a:t>
            </a:r>
          </a:p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60% dos ingressos efetivos</a:t>
            </a:r>
          </a:p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permanecem elegíveis.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852160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575"/>
                </a:solidFill>
                <a:latin typeface="DejaVu Sans"/>
              </a:defRPr>
            </a:pPr>
            <a:r>
              <a:t>O corte de elegibilidade não é antecipado: nenhum efeito desse filtro é contabilizado antes de 2037.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03 · TRAJETÓRIA 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A economia anual chega a R$ 283,795 bi em 2060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Efeitos separados, sem dupla contagem · R$ bilhões de 2026 por 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3/8</a:t>
            </a:r>
          </a:p>
        </p:txBody>
      </p:sp>
      <p:pic>
        <p:nvPicPr>
          <p:cNvPr id="10" name="Picture 9" descr="economia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8256"/>
            <a:ext cx="11064240" cy="3319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A idade e os 12 pagamentos atuam desde 2027. O filtro de 60% acrescenta economia somente a partir de 2037.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04 · ECONOMIA ACUMULADA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Quanto cada mudança acrescenta à economia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Acumulado desde 2027 · R$ bilhões de 2026 · A última coluna soma os três efeitos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4/8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28600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468880"/>
                <a:gridCol w="2194560"/>
                <a:gridCol w="256032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Até o ano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Idade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13 → 12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Elegibilidade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Total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26,417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1,081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27,499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304,160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8,344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312,504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2040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629,298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23,198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34,049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686,544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1.599,314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139,057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487,762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2.226,134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2060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2.652,145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394,196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1.598,754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4.645,095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632704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575"/>
                </a:solidFill>
                <a:latin typeface="DejaVu Sans"/>
              </a:defRPr>
            </a:pPr>
            <a:r>
              <a:t>Decomposição sequencial: primeiro a idade; depois a retirada do 13º; por fim a elegibilidade com 12 pagamentos. Totais antes do arredondamento.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05 · PRIMEIROS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A transição e o primeiro ano do redutor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Economia de cada ano · R$ bilhões de 2026 · O redutor começa em 2037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5/8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103120"/>
          <a:ext cx="1097280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468880"/>
                <a:gridCol w="2194560"/>
                <a:gridCol w="2560320"/>
                <a:gridCol w="2560320"/>
              </a:tblGrid>
              <a:tr h="3063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Ano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Idade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13 → 12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Elegibilidade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Total anual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2027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0,013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0,013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2,088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0,173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2,261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2029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8,483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0,362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8,845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15,847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0,534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16,381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23,701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0,715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24,416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32,109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0,906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33,015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2033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40,905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1,100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42,005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50,242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1,302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51,544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60,155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1,511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61,666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70,631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1,728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72,360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2037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76,599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2,344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2,156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81,100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9893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575"/>
                </a:solidFill>
                <a:latin typeface="DejaVu Sans"/>
              </a:defRPr>
            </a:pPr>
            <a:r>
              <a:t>Em 2027, a economia decorre apenas dos 12 pagamentos: o modelo preserva a idade média efetiva da referência.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06 · DESPESA COMPARÁVEL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Referência e proposta no mesmo fluxo de coortes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Despesa anual apenas das coortes de referência desde 2027 · R$ bilhões de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6/8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33172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Ano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Regra atual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Proposta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Economia anual</a:t>
                      </a:r>
                    </a:p>
                  </a:txBody>
                  <a:tcPr marL="109728" marR="109728" marT="27432" marB="27432" anchor="ctr">
                    <a:solidFill>
                      <a:srgbClr val="142D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2036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93,101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20,741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72,360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107,076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25,976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81,100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2040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152,641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46,412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106,229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329,157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136,991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192,166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2060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527,803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244,007</a:t>
                      </a:r>
                    </a:p>
                  </a:txBody>
                  <a:tcPr marL="109728" marR="109728" marT="27432" marB="2743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283,795</a:t>
                      </a:r>
                    </a:p>
                  </a:txBody>
                  <a:tcPr marL="109728" marR="109728" marT="27432" marB="2743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632704"/>
            <a:ext cx="106984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Estas despesas não representam todo o orçamento previdenciário. As coortes anteriores a 2027 são mantidas fora da comparação e não sofrem corte.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07 · APLICAÇÃO DO FILTRO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O ano do ingresso efetivo determina a elegibilidade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O benefício mensal continua igual a um salário mínimo. O fator de 60% reduz o número de ingressantes.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7/8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286000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Ingresso efetivo até dezembro de 2036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Não recebe o novo filtro de elegibilidade. O recebimento continua nos anos seguintes, com 12 pagamentos anuais.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47872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02152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Ingresso efetivo em janeiro de 2037 ou depois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95344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60% permanecem elegíveis e 40% são excluídos deste benefício. A exclusão é permanente no exercício.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809744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64024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Pessoa que alcançou a idade antiga antes de 2037, mas teve o ingresso adiado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57216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Se só ingressar pela nova idade a partir de 2037, passa pelo filtro. A data relevante é a concessão simulada.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675"/>
                </a:solidFill>
                <a:latin typeface="DejaVu Sans"/>
              </a:defRPr>
            </a:pPr>
            <a:r>
              <a:t>08 · PREMISSAS E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D45"/>
                </a:solidFill>
                <a:latin typeface="DejaVu Sans"/>
              </a:defRPr>
            </a:pPr>
            <a:r>
              <a:t>Como interpretar 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575"/>
                </a:solidFill>
                <a:latin typeface="DejaVu Sans"/>
              </a:defRPr>
            </a:pPr>
            <a:r>
              <a:t>Projeção condicional às premissas da planilha; não é uma avaliação individual de elegibilidade.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6424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575"/>
                </a:solidFill>
                <a:latin typeface="DejaVu Sans"/>
              </a:defRPr>
            </a:pPr>
            <a:r>
              <a:t>Fonte: FilipeTomaz/filipetfd · Planilha original · Valores reais de 2026 · Cenário hipotético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830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8/8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94560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Mesma base demográfica, econômica e histórica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2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População, salário mínimo e INPC da planilha original; incidência média de concessões de 2020–2024.</a:t>
            </a:r>
          </a:p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A população de referência H60/M55 não foi substituída por uma nova série demográfica aos 65 anos.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66160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Valores reais de 2026; acumulação sem desconto financeiro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2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Pagamentos proporcionais aos meses de recebimento. O modelo mantém os benefícios após o ingresso,</a:t>
            </a:r>
          </a:p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sem simular mortalidade, cessação ou migração para outros benefícios.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937759"/>
            <a:ext cx="64008" cy="512064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O cenário incide somente sobre o fluxo modelado de novas coortes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1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Coortes anteriores a 2027 preservadas. Os 40% excluídos não retornam a este benefício no horizonte.</a:t>
            </a:r>
          </a:p>
          <a:p>
            <a:pPr>
              <a:spcAft>
                <a:spcPts val="500"/>
              </a:spcAft>
              <a:defRPr sz="1300" b="0">
                <a:solidFill>
                  <a:srgbClr val="526575"/>
                </a:solidFill>
                <a:latin typeface="DejaVu Sans"/>
              </a:defRPr>
            </a:pPr>
            <a:r>
              <a:t>Os resultados não medem o gasto total do sistema nem efeitos comportamentais da mudança.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65 anos, 12 pagamentos e 60% elegíveis após transição de 10 anos</dc:title>
  <dc:subject>Economia de 2027 a 2060; valores reais de 2026</dc:subject>
  <dc:creator>Projeções a partir de FilipeTomaz/filipetfd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